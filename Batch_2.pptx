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74" r:id="rId13"/>
    <p:sldId id="275" r:id="rId14"/>
    <p:sldId id="276" r:id="rId15"/>
    <p:sldId id="277" r:id="rId16"/>
    <p:sldId id="278" r:id="rId17"/>
    <p:sldId id="279" r:id="rId18"/>
    <p:sldId id="271" r:id="rId19"/>
    <p:sldId id="272" r:id="rId20"/>
  </p:sldIdLst>
  <p:sldSz cx="12192000" cy="6858000"/>
  <p:notesSz cx="6858000" cy="9144000"/>
  <p:embeddedFontLst>
    <p:embeddedFont>
      <p:font typeface="Arial Narrow" panose="020B0606020202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86E08312-9C7E-D2B1-E84E-E0EBAF083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75D8431F-3488-EC60-3DF6-BBBBE5499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C0B43470-24DA-406A-7147-A5D0C50997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109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E9058331-F39D-29F5-FAF7-65C1077E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F0496393-CF0C-40C9-9E54-04E14BCC1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374130B0-7526-BF44-A4D0-78BBFDEF4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4347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92BF72A2-5FD9-064D-818F-E31D3B21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7E805AF4-97CE-3C45-751B-2ADC2DA37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F30BE376-F661-F085-2918-A2EAFFCD0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0618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7BE61C1E-C719-54CE-E287-8B9F283C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43FC1DAA-AF1E-CA5B-F3AB-5FF14FA24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B8FB9910-3097-B3D6-DA5E-23C277801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0296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8A6FBBF-64E5-582C-23CC-9BDC791D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856A6A86-A399-33C1-8FB9-6D80DAD67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FC4D0FF1-5130-3A41-4046-4E796F975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7663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FEFC2239-F612-1A51-4B5D-2A36D5AE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>
            <a:extLst>
              <a:ext uri="{FF2B5EF4-FFF2-40B4-BE49-F238E27FC236}">
                <a16:creationId xmlns:a16="http://schemas.microsoft.com/office/drawing/2014/main" id="{7E915A84-41E2-A268-B4D2-8E90A8822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>
            <a:extLst>
              <a:ext uri="{FF2B5EF4-FFF2-40B4-BE49-F238E27FC236}">
                <a16:creationId xmlns:a16="http://schemas.microsoft.com/office/drawing/2014/main" id="{F56674EC-1655-B3AF-4B67-5F2A74A71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263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</a:p>
          <a:p>
            <a:pPr marL="0" lvl="0" indent="0" algn="ctr">
              <a:buSzPts val="3600"/>
              <a:buNone/>
            </a:pPr>
            <a:endParaRPr lang="en-US" b="1" dirty="0">
              <a:latin typeface="Arial Narrow"/>
              <a:sym typeface="Arial Narrow"/>
            </a:endParaRPr>
          </a:p>
          <a:p>
            <a:pPr marL="0" lvl="0" indent="0" algn="ctr">
              <a:buSzPts val="3600"/>
              <a:buNone/>
            </a:pPr>
            <a:r>
              <a:rPr lang="en-US" b="1" dirty="0"/>
              <a:t>END SEMESTER PRACTICAL EXAMINATION- NOV / DEC 2025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No. 	: 2</a:t>
            </a: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		: 29-11-2025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	: FN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3">
            <a:alphaModFix/>
          </a:blip>
          <a:srcRect l="16357" r="14907" b="8148"/>
          <a:stretch>
            <a:fillRect/>
          </a:stretch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1154A9-AC42-7CD3-98A5-5A0376D65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32" y="0"/>
            <a:ext cx="5348811" cy="18735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95817" y="3594414"/>
            <a:ext cx="27432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9964AA28-C13F-4408-CA3C-6A4222758B4F}"/>
              </a:ext>
            </a:extLst>
          </p:cNvPr>
          <p:cNvSpPr txBox="1">
            <a:spLocks/>
          </p:cNvSpPr>
          <p:nvPr/>
        </p:nvSpPr>
        <p:spPr>
          <a:xfrm>
            <a:off x="495816" y="3594414"/>
            <a:ext cx="4429109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2400"/>
              <a:buFont typeface="Arial"/>
              <a:buNone/>
            </a:pPr>
            <a:r>
              <a:rPr lang="en-US" sz="2400" b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indent="0">
              <a:buSzPts val="2400"/>
              <a:buFont typeface="Arial"/>
              <a:buNone/>
            </a:pPr>
            <a:r>
              <a:rPr lang="en-US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Ms. S.SHAHINA SHALU,M.E.,</a:t>
            </a:r>
          </a:p>
          <a:p>
            <a:pPr marL="0" indent="0">
              <a:buSzPts val="2400"/>
              <a:buFont typeface="Arial"/>
              <a:buNone/>
            </a:pPr>
            <a:r>
              <a:rPr lang="en-US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ASSISTANT PROFESSOR </a:t>
            </a:r>
          </a:p>
          <a:p>
            <a:pPr marL="0" indent="0">
              <a:buSzPts val="2400"/>
              <a:buFont typeface="Arial"/>
              <a:buNone/>
            </a:pPr>
            <a:r>
              <a:rPr lang="en-US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CSE</a:t>
            </a:r>
            <a:endParaRPr lang="en-US" b="1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  <a:p>
            <a:pPr marL="0" indent="0">
              <a:buSzPts val="2400"/>
              <a:buFont typeface="Arial"/>
              <a:buNone/>
            </a:pPr>
            <a:endParaRPr lang="en-US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99;p2">
            <a:extLst>
              <a:ext uri="{FF2B5EF4-FFF2-40B4-BE49-F238E27FC236}">
                <a16:creationId xmlns:a16="http://schemas.microsoft.com/office/drawing/2014/main" id="{447B1C89-466C-F932-4122-2271C95A2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86638" y="3632200"/>
            <a:ext cx="4613275" cy="27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>
              <a:buSzPts val="24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Swathi R   (811722104165)</a:t>
            </a:r>
          </a:p>
          <a:p>
            <a:pPr marL="0" lvl="0" indent="0">
              <a:buSzPts val="24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Vignesh V (811722104180)</a:t>
            </a:r>
          </a:p>
          <a:p>
            <a:pPr marL="0" lvl="0" indent="0">
              <a:buSzPts val="2400"/>
              <a:buNone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VigneshWaran R(811722104181)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96;p2">
            <a:extLst>
              <a:ext uri="{FF2B5EF4-FFF2-40B4-BE49-F238E27FC236}">
                <a16:creationId xmlns:a16="http://schemas.microsoft.com/office/drawing/2014/main" id="{716260CC-8AD1-68CB-EF06-D87C2392BBD8}"/>
              </a:ext>
            </a:extLst>
          </p:cNvPr>
          <p:cNvSpPr txBox="1">
            <a:spLocks/>
          </p:cNvSpPr>
          <p:nvPr/>
        </p:nvSpPr>
        <p:spPr>
          <a:xfrm>
            <a:off x="208548" y="1042613"/>
            <a:ext cx="11791365" cy="128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buSzPts val="3600"/>
              <a:buFont typeface="Arial"/>
              <a:buNone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INTELLIGENT MRI-BASED BRAIN TUMOR ANALYSIS </a:t>
            </a:r>
          </a:p>
          <a:p>
            <a:pPr marL="0" indent="0" algn="ctr">
              <a:buSzPts val="3600"/>
              <a:buFont typeface="Arial"/>
              <a:buNone/>
            </a:pPr>
            <a:r>
              <a:rPr lang="en-IN" b="1" dirty="0">
                <a:latin typeface="Arial Narrow"/>
                <a:ea typeface="Arial Narrow"/>
                <a:cs typeface="Arial Narrow"/>
                <a:sym typeface="Arial Narrow"/>
              </a:rPr>
              <a:t>USING MULTIMODAL AI AND FAST API</a:t>
            </a:r>
            <a:endParaRPr lang="en-GB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465505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4" name="Google Shape;105;p3">
            <a:extLst>
              <a:ext uri="{FF2B5EF4-FFF2-40B4-BE49-F238E27FC236}">
                <a16:creationId xmlns:a16="http://schemas.microsoft.com/office/drawing/2014/main" id="{09D8FF16-F09E-7B93-755E-349CBFF0A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classify brain MRI images into two categories: tumor and non-tumor.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minimize human error and reduce the time taken for manual diagnosis.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provide a cost-effective and lightweight machine learning solution suitable for healthcare applications.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support early detection of brain tumors, thereby improving treatment planning and patient survival rates.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integrate a doctor recommendation module that connects users to the appropriate specialist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ts val="2800"/>
              <a:buAutoNum type="arabicPeriod"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26600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4" name="Google Shape;112;p4">
            <a:extLst>
              <a:ext uri="{FF2B5EF4-FFF2-40B4-BE49-F238E27FC236}">
                <a16:creationId xmlns:a16="http://schemas.microsoft.com/office/drawing/2014/main" id="{E7C32782-5C4E-DA9E-4826-FB49DFA6B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6226" y="1076000"/>
            <a:ext cx="108336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Brain tumors are abnormal growths of cells within the brain that can be either benign (non-cancerous) or malignant (cancerous).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 Early detection of brain tumors is crucial for successful treatment and improving patient survival rates. 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Magnetic Resonance Imaging (MRI) is one of the most widely used medical imaging techniques for brain tumor detection, as it provides detailed and clear images of the brain’s internal structures.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Manual examination of MRI images by radiologists is often time-consuming, complex, and prone to human error, especially when analyzing large volumes of medical data.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 To overcome these challenges, the application of Machine Learning (ML) techniques in medical imaging has gained significant importance in recent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13300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3" name="Google Shape;121;p5">
            <a:extLst>
              <a:ext uri="{FF2B5EF4-FFF2-40B4-BE49-F238E27FC236}">
                <a16:creationId xmlns:a16="http://schemas.microsoft.com/office/drawing/2014/main" id="{E897C43E-B921-362A-6B7B-C10C2A347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980896"/>
              </p:ext>
            </p:extLst>
          </p:nvPr>
        </p:nvGraphicFramePr>
        <p:xfrm>
          <a:off x="0" y="987514"/>
          <a:ext cx="12192001" cy="5733962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027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16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1193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Multimodal MRI </a:t>
                      </a:r>
                      <a:r>
                        <a:rPr lang="en-IN" sz="1800" dirty="0" err="1">
                          <a:latin typeface="+mn-lt"/>
                        </a:rPr>
                        <a:t>Tumor</a:t>
                      </a:r>
                      <a:r>
                        <a:rPr lang="en-IN" sz="1800" dirty="0">
                          <a:latin typeface="+mn-lt"/>
                        </a:rPr>
                        <a:t> Analysis Using SVM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R. Abbas, H. Omar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Extracts features like texture and intensity, then uses SVM for classification.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SVM, Feature Extraction (GLCM, LBP)</a:t>
                      </a:r>
                    </a:p>
                    <a:p>
                      <a:pPr>
                        <a:buNone/>
                      </a:pPr>
                      <a:endParaRPr lang="en-IN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86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Detection of Malignant Tumors Using K-Means and Fuzzy C-Means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T. Saleem, A. Joseph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Unsupervised clustering techniques are used to segment tumor areas.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K-Means, Fuzzy C-Means Clustering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58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Brain Tumor Segmentation with Region-Growing Algorithms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K. Li, X. Chen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Grows regions from seed points to isolate abnormal tissue.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Thresholding, Region Growing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670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Texture-Based Classification of Brain MRI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B. Chandra, S. Ghosh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+mn-lt"/>
                        </a:rPr>
                        <a:t>Uses GLCM texture features to classify MRI scans with traditional ML models.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latin typeface="+mn-lt"/>
                        </a:rPr>
                        <a:t>GLCM, SVM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+mn-lt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465512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AF4D8B-076D-DDD4-74DC-3CF54B21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84" t="35429" r="27403" b="33747"/>
          <a:stretch>
            <a:fillRect/>
          </a:stretch>
        </p:blipFill>
        <p:spPr>
          <a:xfrm>
            <a:off x="644674" y="1549327"/>
            <a:ext cx="10902652" cy="4344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399005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049D7-15CF-0EAF-31CD-48D54A757BD5}"/>
              </a:ext>
            </a:extLst>
          </p:cNvPr>
          <p:cNvSpPr txBox="1"/>
          <p:nvPr/>
        </p:nvSpPr>
        <p:spPr>
          <a:xfrm>
            <a:off x="702129" y="1934737"/>
            <a:ext cx="107877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dk1"/>
              </a:buClr>
              <a:buSzPts val="2800"/>
              <a:buAutoNum type="arabicPeriod"/>
            </a:pPr>
            <a:r>
              <a:rPr lang="en-US" sz="2800" dirty="0"/>
              <a:t>Current brain tumor diagnosis relies heavily on manual MRI interpretation by specialists, leading to delayed detection and human error variations.</a:t>
            </a:r>
          </a:p>
          <a:p>
            <a:pPr marL="342900" lvl="0" indent="-342900">
              <a:buClr>
                <a:schemeClr val="dk1"/>
              </a:buClr>
              <a:buSzPts val="2800"/>
              <a:buAutoNum type="arabicPeriod"/>
            </a:pPr>
            <a:r>
              <a:rPr lang="en-US" sz="2800" dirty="0"/>
              <a:t> Many patients, especially in underserved areas, lack access to specialized neuroradiologists, causing critical treatment delays.</a:t>
            </a:r>
          </a:p>
          <a:p>
            <a:pPr marL="342900" lvl="0" indent="-342900">
              <a:buClr>
                <a:schemeClr val="dk1"/>
              </a:buClr>
              <a:buSzPts val="2800"/>
              <a:buAutoNum type="arabicPeriod"/>
            </a:pPr>
            <a:r>
              <a:rPr lang="en-US" sz="2800" dirty="0"/>
              <a:t> Existing digital tools often provide isolated analysis without integrated patient management, follow-up care, or personalized treatment planning.</a:t>
            </a:r>
            <a:endParaRPr lang="en-US" sz="2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615139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089879-A979-55BB-EA34-A05DF1154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51" t="36846" r="21291" b="35627"/>
          <a:stretch>
            <a:fillRect/>
          </a:stretch>
        </p:blipFill>
        <p:spPr>
          <a:xfrm>
            <a:off x="573738" y="1732636"/>
            <a:ext cx="11044523" cy="4351199"/>
          </a:xfrm>
          <a:prstGeom prst="rect">
            <a:avLst/>
          </a:prstGeom>
        </p:spPr>
      </p:pic>
      <p:pic>
        <p:nvPicPr>
          <p:cNvPr id="1026" name="Picture 2" descr="Icono de api en estilo plano ilustración de vector de integración de ...">
            <a:extLst>
              <a:ext uri="{FF2B5EF4-FFF2-40B4-BE49-F238E27FC236}">
                <a16:creationId xmlns:a16="http://schemas.microsoft.com/office/drawing/2014/main" id="{9BBBCA79-F4B2-6D63-4600-2B15B409E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293" y="2675466"/>
            <a:ext cx="2066104" cy="206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B0C0CB-E383-2714-0775-74D94721FC2E}"/>
              </a:ext>
            </a:extLst>
          </p:cNvPr>
          <p:cNvSpPr/>
          <p:nvPr/>
        </p:nvSpPr>
        <p:spPr>
          <a:xfrm>
            <a:off x="7387267" y="4437616"/>
            <a:ext cx="1938130" cy="576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FAST 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063B7-525D-4C23-AB81-E978E84067DC}"/>
              </a:ext>
            </a:extLst>
          </p:cNvPr>
          <p:cNvSpPr/>
          <p:nvPr/>
        </p:nvSpPr>
        <p:spPr>
          <a:xfrm>
            <a:off x="4934077" y="4888940"/>
            <a:ext cx="2325216" cy="576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8;p8">
            <a:extLst>
              <a:ext uri="{FF2B5EF4-FFF2-40B4-BE49-F238E27FC236}">
                <a16:creationId xmlns:a16="http://schemas.microsoft.com/office/drawing/2014/main" id="{D8EC2A4E-EFCE-D53C-727D-1154380A96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0070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" name="Google Shape;139;p8">
            <a:extLst>
              <a:ext uri="{FF2B5EF4-FFF2-40B4-BE49-F238E27FC236}">
                <a16:creationId xmlns:a16="http://schemas.microsoft.com/office/drawing/2014/main" id="{24489168-20A0-7174-3431-F5062A555438}"/>
              </a:ext>
            </a:extLst>
          </p:cNvPr>
          <p:cNvSpPr txBox="1">
            <a:spLocks/>
          </p:cNvSpPr>
          <p:nvPr/>
        </p:nvSpPr>
        <p:spPr>
          <a:xfrm>
            <a:off x="311658" y="247270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Font typeface="Arial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lang="en-US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Font typeface="Arial"/>
              <a:buNone/>
            </a:pPr>
            <a:endParaRPr lang="en-US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indent="-514350">
              <a:spcBef>
                <a:spcPts val="0"/>
              </a:spcBef>
              <a:buClrTx/>
              <a:buSzPts val="2800"/>
              <a:buFont typeface="Arial"/>
              <a:buAutoNum type="arabicPeriod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Processo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r</a:t>
            </a: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Intel Core i3/i5 or equivalent</a:t>
            </a:r>
          </a:p>
          <a:p>
            <a:pPr marL="514350" indent="-514350">
              <a:spcBef>
                <a:spcPts val="0"/>
              </a:spcBef>
              <a:buClrTx/>
              <a:buSzPts val="2800"/>
              <a:buFont typeface="Arial"/>
              <a:buAutoNum type="arabicPeriod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RAM: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Minimum 4 GB (8 GB recommended)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Storage: 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256 GB SSD or 500 GB HDD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Font typeface="Arial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" name="Google Shape;140;p8">
            <a:extLst>
              <a:ext uri="{FF2B5EF4-FFF2-40B4-BE49-F238E27FC236}">
                <a16:creationId xmlns:a16="http://schemas.microsoft.com/office/drawing/2014/main" id="{E60E1E87-5BA5-BA76-1273-355C6AE47256}"/>
              </a:ext>
            </a:extLst>
          </p:cNvPr>
          <p:cNvSpPr txBox="1">
            <a:spLocks/>
          </p:cNvSpPr>
          <p:nvPr/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</a:p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Font typeface="Arial"/>
              <a:buNone/>
            </a:pPr>
            <a:endParaRPr lang="en-US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514350" indent="-514350">
              <a:spcBef>
                <a:spcPts val="0"/>
              </a:spcBef>
              <a:buClr>
                <a:schemeClr val="tx1">
                  <a:lumMod val="95000"/>
                  <a:lumOff val="5000"/>
                </a:schemeClr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Frontend: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HTML, CSS, JavaScript, Tailwind CSS framework.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Backend: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FastAPI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(Python),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Uvicorn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Server 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Database: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MongoDB</a:t>
            </a:r>
          </a:p>
          <a:p>
            <a:pPr marL="514350" indent="-514350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Web Server: 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Localhost development server</a:t>
            </a:r>
          </a:p>
        </p:txBody>
      </p:sp>
      <p:sp>
        <p:nvSpPr>
          <p:cNvPr id="11" name="Google Shape;141;p8">
            <a:extLst>
              <a:ext uri="{FF2B5EF4-FFF2-40B4-BE49-F238E27FC236}">
                <a16:creationId xmlns:a16="http://schemas.microsoft.com/office/drawing/2014/main" id="{47C85E22-0A7B-D50F-3807-D57592D96E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38238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50299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1. User Authentication &amp; Profile Management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2. MRI Scan Upload &amp; Preprocessing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3. AI-Powered </a:t>
            </a:r>
            <a:r>
              <a:rPr lang="en-IN" dirty="0" err="1">
                <a:latin typeface="Arial Narrow" panose="020B0606020202030204" pitchFamily="34" charset="0"/>
              </a:rPr>
              <a:t>Tumor</a:t>
            </a:r>
            <a:r>
              <a:rPr lang="en-IN" dirty="0">
                <a:latin typeface="Arial Narrow" panose="020B0606020202030204" pitchFamily="34" charset="0"/>
              </a:rPr>
              <a:t> Detection &amp; Severity Classification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4. Scan History Management &amp; Patient Record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5. AI Chat Assistant for Medical Guidance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IN" dirty="0">
                <a:latin typeface="Arial Narrow" panose="020B0606020202030204" pitchFamily="34" charset="0"/>
              </a:rPr>
              <a:t>6. Medical Report Generation (PDF) Module</a:t>
            </a:r>
            <a:endParaRPr lang="en-GB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IN" dirty="0">
                <a:latin typeface="Arial Narrow" panose="020B0606020202030204" pitchFamily="34" charset="0"/>
              </a:rPr>
              <a:t>7. Doctor Management &amp; Appointment Handling Module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D81A3-4B71-F10B-A34D-7E065633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" y="1961515"/>
            <a:ext cx="5760085" cy="323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CACF76-8F27-8E2E-87DD-E5A6C9FEE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61515"/>
            <a:ext cx="5760085" cy="3239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50C01A3A-E131-6992-98F7-9F9AEF68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E68E1459-F12E-B4BA-8A76-9EB78CFDD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7669ECFC-EED2-D126-3761-E113D80E4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5B209D3-8D44-BADA-2C86-8166540A2B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94C2B-ACC3-2CBC-EFAF-BCCEECE3A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86" y="1186492"/>
            <a:ext cx="8515228" cy="478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5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7E835579-DAFD-0F57-B68A-049FFF84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3EDF12F1-08C4-2DC9-B1EA-4706760E9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E00B1549-2790-B3C0-D313-ECE39FA7D3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A1B63A7-BC89-F666-2225-1F789C5662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8FFA0A-ACF8-5628-16D2-5157A2B3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000" y="1165228"/>
            <a:ext cx="831999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1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CB9F7964-9DE6-4133-397E-A283E2CC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FD617DC3-6CE2-E9C2-5621-4CE177109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6B9B5A86-E780-0D7C-DBB1-A4009AEA0A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9413CCA-B9BA-8BFF-783C-CA024B7392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C6507B-822C-A3C8-9806-B8F410A47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43" y="1241400"/>
            <a:ext cx="832071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8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87B4A735-EB8F-A2E4-5F1B-1E5E6E5E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D069E8BB-13DB-6606-64B9-C17F672288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02265B50-7A9D-65E6-17CD-1CCFB39C51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7D24E144-DC5A-905D-F6A4-1C6D14EE9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104CF-DBB6-A83E-B964-EE2D10BA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043" y="1241400"/>
            <a:ext cx="8320714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4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DAC9AFA2-A0B8-B68A-B0C2-C9927A5F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110DB34E-0A9C-D2D0-B021-F8E8EA6E58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MODULE-6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30BA2157-C7BB-1334-56B8-877699649E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C0E2962-98BC-BA88-D6FE-45444630DA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97F2A6-1BE1-8B2E-C1A2-8260D390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43" y="1241400"/>
            <a:ext cx="8320713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60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>
          <a:extLst>
            <a:ext uri="{FF2B5EF4-FFF2-40B4-BE49-F238E27FC236}">
              <a16:creationId xmlns:a16="http://schemas.microsoft.com/office/drawing/2014/main" id="{0685E66F-C937-99C0-4D91-43DCB4C5A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>
            <a:extLst>
              <a:ext uri="{FF2B5EF4-FFF2-40B4-BE49-F238E27FC236}">
                <a16:creationId xmlns:a16="http://schemas.microsoft.com/office/drawing/2014/main" id="{54F8C64D-10A8-1AD9-7049-4410BD3E9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262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MODULE-7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10">
            <a:extLst>
              <a:ext uri="{FF2B5EF4-FFF2-40B4-BE49-F238E27FC236}">
                <a16:creationId xmlns:a16="http://schemas.microsoft.com/office/drawing/2014/main" id="{46BA1719-1CF5-EED5-5B70-EED399A328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A0C95E31-B43F-2A26-4138-B3035C4F6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4FD11-7107-6F4B-427B-07B65970A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15" y="1956478"/>
            <a:ext cx="5760085" cy="3239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5A3247-8049-AA13-E94D-BD61B1C31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82802"/>
            <a:ext cx="5760085" cy="323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82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94;p16">
            <a:extLst>
              <a:ext uri="{FF2B5EF4-FFF2-40B4-BE49-F238E27FC236}">
                <a16:creationId xmlns:a16="http://schemas.microsoft.com/office/drawing/2014/main" id="{CA066F47-005E-6C11-452D-5FE3A3C0C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24091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" name="Google Shape;195;p16">
            <a:extLst>
              <a:ext uri="{FF2B5EF4-FFF2-40B4-BE49-F238E27FC236}">
                <a16:creationId xmlns:a16="http://schemas.microsoft.com/office/drawing/2014/main" id="{26DBA887-021E-C0A0-EDFD-C9126DFFC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99" y="1451156"/>
            <a:ext cx="10701759" cy="490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project successfully classifies MRI images into Tumor and Non-Tumor using the Naïve Bayes classifier.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Preprocessing and feature extraction improve the accuracy and efficiency of the classification.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web-based interface allows users to easily upload MRI images and view results.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system demonstrates the potential of AI in supporting early brain tumor detection.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The modular design enables future improvements such as multi-class tumor detection or integration with larger datasets.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4" name="Google Shape;196;p16">
            <a:extLst>
              <a:ext uri="{FF2B5EF4-FFF2-40B4-BE49-F238E27FC236}">
                <a16:creationId xmlns:a16="http://schemas.microsoft.com/office/drawing/2014/main" id="{BBC727DA-566B-A6CA-FE9D-71E441028F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4;p16">
            <a:extLst>
              <a:ext uri="{FF2B5EF4-FFF2-40B4-BE49-F238E27FC236}">
                <a16:creationId xmlns:a16="http://schemas.microsoft.com/office/drawing/2014/main" id="{5720EC61-D4C3-A566-DF8D-0B4389ED8D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7" name="Google Shape;195;p16">
            <a:extLst>
              <a:ext uri="{FF2B5EF4-FFF2-40B4-BE49-F238E27FC236}">
                <a16:creationId xmlns:a16="http://schemas.microsoft.com/office/drawing/2014/main" id="{B2F0C5B0-AC20-C6A9-C429-B6A05762F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Implement AI-powered confidence scoring and multi-model validation to enhance diagnostic accuracy and reliability. 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Add comprehensive user authentication with personalized dashboards for long-term progress tracking and treatment outcome monitoring. </a:t>
            </a:r>
          </a:p>
          <a:p>
            <a:pPr marL="514350" lvl="0" indent="-514350">
              <a:lnSpc>
                <a:spcPct val="100000"/>
              </a:lnSpc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Expand global accessibility through multilingual support and telemedicine integration while enabling custom hospital workflows and EHR system compatibility.</a:t>
            </a:r>
            <a:endParaRPr lang="en-US"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96;p16">
            <a:extLst>
              <a:ext uri="{FF2B5EF4-FFF2-40B4-BE49-F238E27FC236}">
                <a16:creationId xmlns:a16="http://schemas.microsoft.com/office/drawing/2014/main" id="{348B63E7-9E12-9014-F978-900C0B6E63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19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786</Words>
  <Application>Microsoft Office PowerPoint</Application>
  <PresentationFormat>Widescreen</PresentationFormat>
  <Paragraphs>117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Times New Roman</vt:lpstr>
      <vt:lpstr>Arial Narrow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IMPLEMENTATION OF MODULE-6</vt:lpstr>
      <vt:lpstr>IMPLEMENTATION OF MODULE-7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vignesh v</cp:lastModifiedBy>
  <cp:revision>13</cp:revision>
  <dcterms:modified xsi:type="dcterms:W3CDTF">2025-11-28T15:39:19Z</dcterms:modified>
</cp:coreProperties>
</file>